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613209A-72D1-4C90-96FB-449D4B786B7A}" v="114" dt="2026-05-20T20:17:37.85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81849"/>
  </p:normalViewPr>
  <p:slideViewPr>
    <p:cSldViewPr snapToGrid="0" snapToObjects="1">
      <p:cViewPr varScale="1">
        <p:scale>
          <a:sx n="115" d="100"/>
          <a:sy n="115" d="100"/>
        </p:scale>
        <p:origin x="14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urenco Sarmento" userId="0ec4b21544b95552" providerId="LiveId" clId="{89F6666A-76C2-46E0-A799-7EA8048438B8}"/>
    <pc:docChg chg="modSld">
      <pc:chgData name="Lourenco Sarmento" userId="0ec4b21544b95552" providerId="LiveId" clId="{89F6666A-76C2-46E0-A799-7EA8048438B8}" dt="2026-05-20T21:34:08.437" v="8" actId="20577"/>
      <pc:docMkLst>
        <pc:docMk/>
      </pc:docMkLst>
      <pc:sldChg chg="modNotesTx">
        <pc:chgData name="Lourenco Sarmento" userId="0ec4b21544b95552" providerId="LiveId" clId="{89F6666A-76C2-46E0-A799-7EA8048438B8}" dt="2026-05-20T21:33:44.590" v="0" actId="20577"/>
        <pc:sldMkLst>
          <pc:docMk/>
          <pc:sldMk cId="0" sldId="256"/>
        </pc:sldMkLst>
      </pc:sldChg>
      <pc:sldChg chg="modNotesTx">
        <pc:chgData name="Lourenco Sarmento" userId="0ec4b21544b95552" providerId="LiveId" clId="{89F6666A-76C2-46E0-A799-7EA8048438B8}" dt="2026-05-20T21:33:47.604" v="1" actId="20577"/>
        <pc:sldMkLst>
          <pc:docMk/>
          <pc:sldMk cId="0" sldId="257"/>
        </pc:sldMkLst>
      </pc:sldChg>
      <pc:sldChg chg="modNotesTx">
        <pc:chgData name="Lourenco Sarmento" userId="0ec4b21544b95552" providerId="LiveId" clId="{89F6666A-76C2-46E0-A799-7EA8048438B8}" dt="2026-05-20T21:33:52.958" v="3" actId="20577"/>
        <pc:sldMkLst>
          <pc:docMk/>
          <pc:sldMk cId="0" sldId="258"/>
        </pc:sldMkLst>
      </pc:sldChg>
      <pc:sldChg chg="modNotesTx">
        <pc:chgData name="Lourenco Sarmento" userId="0ec4b21544b95552" providerId="LiveId" clId="{89F6666A-76C2-46E0-A799-7EA8048438B8}" dt="2026-05-20T21:33:55.639" v="4" actId="20577"/>
        <pc:sldMkLst>
          <pc:docMk/>
          <pc:sldMk cId="0" sldId="259"/>
        </pc:sldMkLst>
      </pc:sldChg>
      <pc:sldChg chg="modNotesTx">
        <pc:chgData name="Lourenco Sarmento" userId="0ec4b21544b95552" providerId="LiveId" clId="{89F6666A-76C2-46E0-A799-7EA8048438B8}" dt="2026-05-20T21:33:58.587" v="5" actId="20577"/>
        <pc:sldMkLst>
          <pc:docMk/>
          <pc:sldMk cId="0" sldId="260"/>
        </pc:sldMkLst>
      </pc:sldChg>
      <pc:sldChg chg="modNotesTx">
        <pc:chgData name="Lourenco Sarmento" userId="0ec4b21544b95552" providerId="LiveId" clId="{89F6666A-76C2-46E0-A799-7EA8048438B8}" dt="2026-05-20T21:34:01.430" v="6" actId="20577"/>
        <pc:sldMkLst>
          <pc:docMk/>
          <pc:sldMk cId="0" sldId="261"/>
        </pc:sldMkLst>
      </pc:sldChg>
      <pc:sldChg chg="modNotesTx">
        <pc:chgData name="Lourenco Sarmento" userId="0ec4b21544b95552" providerId="LiveId" clId="{89F6666A-76C2-46E0-A799-7EA8048438B8}" dt="2026-05-20T21:34:04.657" v="7" actId="20577"/>
        <pc:sldMkLst>
          <pc:docMk/>
          <pc:sldMk cId="0" sldId="262"/>
        </pc:sldMkLst>
      </pc:sldChg>
      <pc:sldChg chg="modNotesTx">
        <pc:chgData name="Lourenco Sarmento" userId="0ec4b21544b95552" providerId="LiveId" clId="{89F6666A-76C2-46E0-A799-7EA8048438B8}" dt="2026-05-20T21:34:08.437" v="8" actId="20577"/>
        <pc:sldMkLst>
          <pc:docMk/>
          <pc:sldMk cId="0" sldId="263"/>
        </pc:sldMkLst>
      </pc:sldChg>
      <pc:sldChg chg="modNotesTx">
        <pc:chgData name="Lourenco Sarmento" userId="0ec4b21544b95552" providerId="LiveId" clId="{89F6666A-76C2-46E0-A799-7EA8048438B8}" dt="2026-05-20T21:33:50.214" v="2" actId="20577"/>
        <pc:sldMkLst>
          <pc:docMk/>
          <pc:sldMk cId="2084377943" sldId="26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F1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250-F94C-AB40-EAC9127E38E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250-F94C-AB40-EAC9127E38E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5250-F94C-AB40-EAC9127E38E9}"/>
              </c:ext>
            </c:extLst>
          </c:dPt>
          <c:dPt>
            <c:idx val="3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50-F94C-AB40-EAC9127E38E9}"/>
              </c:ext>
            </c:extLst>
          </c:dPt>
          <c:dPt>
            <c:idx val="4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250-F94C-AB40-EAC9127E38E9}"/>
              </c:ext>
            </c:extLst>
          </c:dPt>
          <c:dPt>
            <c:idx val="5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250-F94C-AB40-EAC9127E38E9}"/>
              </c:ext>
            </c:extLst>
          </c:dPt>
          <c:dPt>
            <c:idx val="6"/>
            <c:invertIfNegative val="0"/>
            <c:bubble3D val="0"/>
            <c:spPr>
              <a:solidFill>
                <a:srgbClr val="2563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250-F94C-AB40-EAC9127E38E9}"/>
              </c:ext>
            </c:extLst>
          </c:dPt>
          <c:dPt>
            <c:idx val="7"/>
            <c:invertIfNegative val="0"/>
            <c:bubble3D val="0"/>
            <c:spPr>
              <a:solidFill>
                <a:srgbClr val="7C3AE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250-F94C-AB40-EAC9127E38E9}"/>
              </c:ext>
            </c:extLst>
          </c:dPt>
          <c:dPt>
            <c:idx val="8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250-F94C-AB40-EAC9127E38E9}"/>
              </c:ext>
            </c:extLst>
          </c:dPt>
          <c:dPt>
            <c:idx val="9"/>
            <c:invertIfNegative val="0"/>
            <c:bubble3D val="0"/>
            <c:spPr>
              <a:solidFill>
                <a:srgbClr val="F9731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250-F94C-AB40-EAC9127E38E9}"/>
              </c:ext>
            </c:extLst>
          </c:dPt>
          <c:cat>
            <c:strRef>
              <c:f>Sheet1!$A$2:$A$11</c:f>
              <c:strCache>
                <c:ptCount val="10"/>
                <c:pt idx="0">
                  <c:v>TF-IDF LR</c:v>
                </c:pt>
                <c:pt idx="1">
                  <c:v>NB</c:v>
                </c:pt>
                <c:pt idx="2">
                  <c:v>MLP</c:v>
                </c:pt>
                <c:pt idx="3">
                  <c:v>CNN</c:v>
                </c:pt>
                <c:pt idx="4">
                  <c:v>BiLSTM</c:v>
                </c:pt>
                <c:pt idx="5">
                  <c:v>CNN+GRU</c:v>
                </c:pt>
                <c:pt idx="6">
                  <c:v>Transformer</c:v>
                </c:pt>
                <c:pt idx="7">
                  <c:v>DistilBERT</c:v>
                </c:pt>
                <c:pt idx="8">
                  <c:v>RoBERTa</c:v>
                </c:pt>
                <c:pt idx="9">
                  <c:v>Ensemble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0.77439999999999998</c:v>
                </c:pt>
                <c:pt idx="1">
                  <c:v>0.76739999999999997</c:v>
                </c:pt>
                <c:pt idx="2">
                  <c:v>0.74980000000000002</c:v>
                </c:pt>
                <c:pt idx="3">
                  <c:v>0.78259999999999996</c:v>
                </c:pt>
                <c:pt idx="4">
                  <c:v>0.7712</c:v>
                </c:pt>
                <c:pt idx="5">
                  <c:v>0.7742</c:v>
                </c:pt>
                <c:pt idx="6">
                  <c:v>0.76500000000000001</c:v>
                </c:pt>
                <c:pt idx="7">
                  <c:v>0.81</c:v>
                </c:pt>
                <c:pt idx="8">
                  <c:v>0.81899999999999995</c:v>
                </c:pt>
                <c:pt idx="9">
                  <c:v>0.83209999999999995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250-F94C-AB40-EAC9127E38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5"/>
          <c:min val="0.7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9878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8783C-5DF7-DB63-83EA-B28FCADDB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E6A393-4F0F-27F2-81E4-DAB4D94BD0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DD914E-5E3C-53EE-1821-EC38C2473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91BD-4379-D6D9-1989-10AF419EF9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82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5" Type="http://schemas.openxmlformats.org/officeDocument/2006/relationships/image" Target="../media/image2.png"/><Relationship Id="rId10" Type="http://schemas.openxmlformats.org/officeDocument/2006/relationships/image" Target="../media/image7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video" Target="../media/media3.mp4"/><Relationship Id="rId7" Type="http://schemas.openxmlformats.org/officeDocument/2006/relationships/notesSlide" Target="../notesSlides/notesSlide3.xml"/><Relationship Id="rId2" Type="http://schemas.microsoft.com/office/2007/relationships/media" Target="../media/media3.mp4"/><Relationship Id="rId1" Type="http://schemas.openxmlformats.org/officeDocument/2006/relationships/tags" Target="../tags/tag1.xml"/><Relationship Id="rId6" Type="http://schemas.openxmlformats.org/officeDocument/2006/relationships/slideLayout" Target="../slideLayouts/slideLayout1.xml"/><Relationship Id="rId5" Type="http://schemas.openxmlformats.org/officeDocument/2006/relationships/video" Target="../media/media4.mp4"/><Relationship Id="rId4" Type="http://schemas.microsoft.com/office/2007/relationships/media" Target="../media/media4.mp4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6" Type="http://schemas.openxmlformats.org/officeDocument/2006/relationships/image" Target="../media/image13.png"/><Relationship Id="rId5" Type="http://schemas.openxmlformats.org/officeDocument/2006/relationships/chart" Target="../charts/char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6.png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0.mp4"/><Relationship Id="rId1" Type="http://schemas.microsoft.com/office/2007/relationships/media" Target="../media/media10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4114800" cy="41148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223760" y="-822960"/>
            <a:ext cx="2743200" cy="2743200"/>
          </a:xfrm>
          <a:prstGeom prst="ellipse">
            <a:avLst/>
          </a:prstGeom>
          <a:solidFill>
            <a:srgbClr val="2563EB"/>
          </a:solidFill>
          <a:ln w="762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1238491"/>
            <a:ext cx="6858000" cy="13675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ML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 Agent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411480" y="2697480"/>
            <a:ext cx="5943600" cy="36576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2834640"/>
            <a:ext cx="6400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DBFE"/>
                </a:solidFill>
              </a:rPr>
              <a:t>NLP with Disaster Tweets  ·  Track 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32004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FDBFE"/>
                </a:solidFill>
              </a:rPr>
              <a:t>Advanced Predictive Analytics 2025/2026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35204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</a:rPr>
              <a:t>May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4160520"/>
            <a:ext cx="20574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4206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F1 0.8437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11480" y="4590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</a:rPr>
              <a:t>Kaggle best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49561" y="4160520"/>
            <a:ext cx="2057400" cy="7772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49561" y="420624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#65 / 713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649561" y="4590288"/>
            <a:ext cx="205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3C5FD"/>
                </a:solidFill>
              </a:rPr>
              <a:t>Leaderboard</a:t>
            </a:r>
            <a:endParaRPr lang="en-US" sz="1000" dirty="0"/>
          </a:p>
        </p:txBody>
      </p:sp>
      <p:pic>
        <p:nvPicPr>
          <p:cNvPr id="82" name="Video 81">
            <a:hlinkClick r:id="" action="ppaction://media"/>
            <a:extLst>
              <a:ext uri="{FF2B5EF4-FFF2-40B4-BE49-F238E27FC236}">
                <a16:creationId xmlns:a16="http://schemas.microsoft.com/office/drawing/2014/main" id="{61D6C574-0BBF-C8C7-0851-8A6681B0553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7793836" y="194252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507"/>
    </mc:Choice>
    <mc:Fallback xmlns="">
      <p:transition spd="slow" advTm="3250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8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2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Agent Loop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One command. Zero human intervention. Fully autonomous.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325880"/>
            <a:ext cx="1298448" cy="14630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144475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Curriculum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Selector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618488" y="1325880"/>
            <a:ext cx="137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</a:rPr>
              <a:t>›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55648" y="1325880"/>
            <a:ext cx="1298448" cy="1463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6272" y="144475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55648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LLM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Proposes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054096" y="1325880"/>
            <a:ext cx="137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</a:rPr>
              <a:t>›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91256" y="1325880"/>
            <a:ext cx="1298448" cy="14630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1444752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191256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Code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Generates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4489704" y="1325880"/>
            <a:ext cx="137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</a:rPr>
              <a:t>›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4626864" y="1325880"/>
            <a:ext cx="1298448" cy="14630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47488" y="1444752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626864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Sandboxed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Executor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925312" y="1325880"/>
            <a:ext cx="137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</a:rPr>
              <a:t>›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6062472" y="1325880"/>
            <a:ext cx="1298448" cy="1463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3096" y="1444752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062472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F1 Parser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+ Logger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360920" y="1325880"/>
            <a:ext cx="137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4748B"/>
                </a:solidFill>
              </a:rPr>
              <a:t>›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7498080" y="1325880"/>
            <a:ext cx="1298448" cy="14630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18704" y="1444752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498080" y="1965960"/>
            <a:ext cx="12984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Memory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Logger</a:t>
            </a:r>
            <a:endParaRPr lang="en-US" sz="1100" dirty="0"/>
          </a:p>
        </p:txBody>
      </p:sp>
      <p:sp>
        <p:nvSpPr>
          <p:cNvPr id="27" name="Shape 19"/>
          <p:cNvSpPr/>
          <p:nvPr/>
        </p:nvSpPr>
        <p:spPr>
          <a:xfrm>
            <a:off x="320040" y="3017520"/>
            <a:ext cx="2743200" cy="17830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0"/>
          <p:cNvSpPr/>
          <p:nvPr/>
        </p:nvSpPr>
        <p:spPr>
          <a:xfrm>
            <a:off x="457200" y="3108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Fully Offline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457200" y="3493008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Ollama at localhost:11434/v1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qwen2.5-coder:14b · Temp 0.3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8,192 max tokens — no truncation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3246120" y="3017520"/>
            <a:ext cx="2743200" cy="17830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3"/>
          <p:cNvSpPr/>
          <p:nvPr/>
        </p:nvSpPr>
        <p:spPr>
          <a:xfrm>
            <a:off x="3383280" y="3108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Repair Loop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3383280" y="3493008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On crash: LLM fixes code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Up to 3 retries per experiment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attempt = full rewrite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6172200" y="3017520"/>
            <a:ext cx="2743200" cy="17830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6"/>
          <p:cNvSpPr/>
          <p:nvPr/>
        </p:nvSpPr>
        <p:spPr>
          <a:xfrm>
            <a:off x="6309360" y="3108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Persistent Memory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6309360" y="3493008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experiments.json stores everything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Code · F1 · errors · LLM analysis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Fed back as context each iteration</a:t>
            </a:r>
            <a:endParaRPr lang="en-US" sz="1100" dirty="0"/>
          </a:p>
        </p:txBody>
      </p:sp>
      <p:pic>
        <p:nvPicPr>
          <p:cNvPr id="67" name="Video 66">
            <a:hlinkClick r:id="" action="ppaction://media"/>
            <a:extLst>
              <a:ext uri="{FF2B5EF4-FFF2-40B4-BE49-F238E27FC236}">
                <a16:creationId xmlns:a16="http://schemas.microsoft.com/office/drawing/2014/main" id="{29D12C9D-A463-7109-807D-5D004C3962A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11"/>
          <a:srcRect l="21875" r="21875"/>
          <a:stretch>
            <a:fillRect/>
          </a:stretch>
        </p:blipFill>
        <p:spPr>
          <a:xfrm>
            <a:off x="7835904" y="108720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6687"/>
    </mc:Choice>
    <mc:Fallback xmlns="">
      <p:transition spd="slow" advTm="366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7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CA09-F786-7513-52B8-6545CC252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F7784E6-1D3D-1298-1C6A-B50991E68833}"/>
              </a:ext>
            </a:extLst>
          </p:cNvPr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3000" dirty="0"/>
          </a:p>
        </p:txBody>
      </p:sp>
      <p:pic>
        <p:nvPicPr>
          <p:cNvPr id="36" name="Video.mov">
            <a:hlinkClick r:id="" action="ppaction://media"/>
            <a:extLst>
              <a:ext uri="{FF2B5EF4-FFF2-40B4-BE49-F238E27FC236}">
                <a16:creationId xmlns:a16="http://schemas.microsoft.com/office/drawing/2014/main" id="{E404F280-F16A-0A27-96AB-98DAF382AE45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11480" y="936508"/>
            <a:ext cx="8321040" cy="3597116"/>
          </a:xfrm>
          <a:prstGeom prst="rect">
            <a:avLst/>
          </a:prstGeom>
        </p:spPr>
      </p:pic>
      <p:pic>
        <p:nvPicPr>
          <p:cNvPr id="37" name="Video 36">
            <a:hlinkClick r:id="" action="ppaction://media"/>
            <a:extLst>
              <a:ext uri="{FF2B5EF4-FFF2-40B4-BE49-F238E27FC236}">
                <a16:creationId xmlns:a16="http://schemas.microsoft.com/office/drawing/2014/main" id="{629B8822-0FDE-198B-570B-262E4D93745D}"/>
              </a:ext>
            </a:extLst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9"/>
          <a:srcRect l="21875" r="21875"/>
          <a:stretch>
            <a:fillRect/>
          </a:stretch>
        </p:blipFill>
        <p:spPr>
          <a:xfrm>
            <a:off x="7946559" y="69876"/>
            <a:ext cx="1080000" cy="1080000"/>
          </a:xfrm>
          <a:prstGeom prst="ellipse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84377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6"/>
    </mc:Choice>
    <mc:Fallback xmlns="">
      <p:transition spd="slow" advTm="2000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4291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9" fill="hold" display="0">
                  <p:stCondLst>
                    <p:cond delay="indefinite"/>
                  </p:stCondLst>
                </p:cTn>
                <p:tgtEl>
                  <p:spTgt spid="36"/>
                </p:tgtEl>
              </p:cMediaNode>
            </p:video>
            <p:seq concurrent="1" nextAc="seek">
              <p:cTn id="10" restart="whenNotActive" fill="hold" evtFilter="cancelBubble" nodeType="interactiveSeq">
                <p:stCondLst>
                  <p:cond evt="onClick" delay="0">
                    <p:tgtEl>
                      <p:spTgt spid="3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4" dur="1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6"/>
                  </p:tgtEl>
                </p:cond>
              </p:nextCondLst>
            </p:seq>
            <p:video>
              <p:cMediaNode vol="80000">
                <p:cTn id="15" fill="hold" display="0">
                  <p:stCondLst>
                    <p:cond delay="indefinite"/>
                  </p:stCondLst>
                </p:cTn>
                <p:tgtEl>
                  <p:spTgt spid="37"/>
                </p:tgtEl>
              </p:cMediaNode>
            </p:video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0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  <p:extLst>
    <p:ext uri="{E180D4A7-C9FB-4DFB-919C-405C955672EB}">
      <p14:showEvtLst xmlns:p14="http://schemas.microsoft.com/office/powerpoint/2010/main">
        <p14:playEvt time="191" objId="36"/>
        <p14:stopEvt time="20006" objId="36"/>
      </p14:showEvtLst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The most important engineering artifact in the project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2788920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618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SYSTEM_PROMPT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700784"/>
            <a:ext cx="2788920" cy="265176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38912" y="188366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8105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Task spec + metric (F1)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" y="2286000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0080" y="22128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Allowed vs forbidden libs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688336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40080" y="26151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Known Keras/sklearn gotchas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" y="3090672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Complete Keras template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493008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" y="34198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Strict output format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8912" y="389534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82219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Data hygiene requirements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182112" y="1261872"/>
            <a:ext cx="2788920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182112" y="12618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PROPOSE_PROMPT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182112" y="1700784"/>
            <a:ext cx="2788920" cy="265176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346704" y="188366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547872" y="18105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Stratified experiment memory</a:t>
            </a:r>
          </a:p>
        </p:txBody>
      </p:sp>
      <p:sp>
        <p:nvSpPr>
          <p:cNvPr id="24" name="Shape 22"/>
          <p:cNvSpPr/>
          <p:nvPr/>
        </p:nvSpPr>
        <p:spPr>
          <a:xfrm>
            <a:off x="3346704" y="2286000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547872" y="22128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FAILED archs → never retry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46704" y="2688336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547872" y="26151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LOW-SCORING → don't tweak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46704" y="3090672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547872" y="30175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Curriculum-assigned family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46704" y="3493008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547872" y="34198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≤2 hyperparameter changes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46704" y="389534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547872" y="382219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Concrete good/bad examples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89904" y="1261872"/>
            <a:ext cx="2788920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089904" y="12618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FIX_PROMPT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089904" y="1700784"/>
            <a:ext cx="2788920" cy="265176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254496" y="188366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55664" y="181051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Error message + traceback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54496" y="2286000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455664" y="221284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Full broken script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54496" y="2688336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55664" y="261518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Instruction: fix only, no prose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54496" y="3090672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55664" y="301752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Final attempt: full rewrite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54496" y="3493008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55664" y="34198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Restate Keras template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254496" y="3895344"/>
            <a:ext cx="128016" cy="128016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455664" y="3822192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Model-agnostic (swap via env)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274320" y="448056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Key insight: separating FAILED (never retry) from LOW-SCORING (don't tweak) prevented the LLM from wasting iterations on dead ends</a:t>
            </a:r>
            <a:endParaRPr lang="en-US" sz="1100" dirty="0"/>
          </a:p>
        </p:txBody>
      </p:sp>
      <p:pic>
        <p:nvPicPr>
          <p:cNvPr id="108" name="Video 107">
            <a:hlinkClick r:id="" action="ppaction://media"/>
            <a:extLst>
              <a:ext uri="{FF2B5EF4-FFF2-40B4-BE49-F238E27FC236}">
                <a16:creationId xmlns:a16="http://schemas.microsoft.com/office/drawing/2014/main" id="{79953A6F-D163-A586-C058-F8C7EDE231D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7917696" y="186356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117"/>
    </mc:Choice>
    <mc:Fallback xmlns="">
      <p:transition spd="slow" advTm="3311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8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10-Step Curriculum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Explore broadly first, exploit the winners. Classical runs test the same hypothesis at 30× throughput.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261872"/>
            <a:ext cx="530352" cy="5303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1261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04672" y="1261872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126187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TF-IDF Linear Baseline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975104"/>
            <a:ext cx="530352" cy="5303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19751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4672" y="1975104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32688" y="197510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TF-IDF Probabilistic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688336"/>
            <a:ext cx="530352" cy="53035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74320" y="26883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4672" y="2688336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32688" y="268833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TF-IDF Dense MLP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3401568"/>
            <a:ext cx="530352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34015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4672" y="3401568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32688" y="340156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Keras Embedding + CNN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4320" y="4114800"/>
            <a:ext cx="530352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4114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04672" y="4114800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32688" y="411480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Keras Embedding + GRU/BiLSTM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1261872"/>
            <a:ext cx="530352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0" y="126187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193792" y="1261872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321808" y="1261872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Keras CNN + GRU Hybrid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1975104"/>
            <a:ext cx="530352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197510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193792" y="1975104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321808" y="197510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Keras Transformer (MHA)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63440" y="2688336"/>
            <a:ext cx="530352" cy="5303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63440" y="268833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193792" y="2688336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21808" y="268833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Exploit: Best Classical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63440" y="3401568"/>
            <a:ext cx="530352" cy="5303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63440" y="34015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193792" y="3401568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321808" y="340156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Exploit: Best Deep Learning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663440" y="4114800"/>
            <a:ext cx="530352" cy="5303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63440" y="4114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5193792" y="4114800"/>
            <a:ext cx="3858768" cy="53035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321808" y="411480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</a:rPr>
              <a:t>Final Refinement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74320" y="4754880"/>
            <a:ext cx="201168" cy="201168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48640" y="47183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Classical exploration (3 sec)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3246120" y="4754880"/>
            <a:ext cx="201168" cy="20116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3520440" y="47183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Deep learning (90 sec)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17920" y="4754880"/>
            <a:ext cx="201168" cy="201168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92240" y="47183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Exploitation phase</a:t>
            </a:r>
            <a:endParaRPr lang="en-US" sz="1050" dirty="0"/>
          </a:p>
        </p:txBody>
      </p:sp>
      <p:pic>
        <p:nvPicPr>
          <p:cNvPr id="59" name="Video 58">
            <a:hlinkClick r:id="" action="ppaction://media"/>
            <a:extLst>
              <a:ext uri="{FF2B5EF4-FFF2-40B4-BE49-F238E27FC236}">
                <a16:creationId xmlns:a16="http://schemas.microsoft.com/office/drawing/2014/main" id="{D7E7FAF5-20D4-39D5-0740-7EEBDAF8E09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7899408" y="131580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609"/>
    </mc:Choice>
    <mc:Fallback xmlns="">
      <p:transition spd="slow" advTm="326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Results — What the Agent Tried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30 experiments across 10 curriculum families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143000"/>
          <a:ext cx="58521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" name="Shape 2"/>
          <p:cNvSpPr/>
          <p:nvPr/>
        </p:nvSpPr>
        <p:spPr>
          <a:xfrm>
            <a:off x="6309360" y="1143000"/>
            <a:ext cx="2606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6309360" y="1143000"/>
            <a:ext cx="54864" cy="1097280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6400800" y="1234440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A580C"/>
                </a:solidFill>
              </a:rPr>
              <a:t>0.792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0" y="17099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Agent best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0" y="195681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64748B"/>
                </a:solidFill>
              </a:rPr>
              <a:t>Keras</a:t>
            </a:r>
            <a:r>
              <a:rPr lang="en-US" sz="950" dirty="0">
                <a:solidFill>
                  <a:srgbClr val="64748B"/>
                </a:solidFill>
              </a:rPr>
              <a:t> Embedding + CNN + GRU hybrid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309360" y="2350008"/>
            <a:ext cx="2606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309360" y="2350008"/>
            <a:ext cx="54864" cy="10972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0" y="2441448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563EB"/>
                </a:solidFill>
              </a:rPr>
              <a:t>0.8321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6400800" y="2916936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Ensemble val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0" y="316382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CountVec+LogReg + Transformer + RoBERTa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309360" y="3557016"/>
            <a:ext cx="2606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309360" y="3557016"/>
            <a:ext cx="54864" cy="10972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0" y="3648456"/>
            <a:ext cx="2423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A34A"/>
                </a:solidFill>
              </a:rPr>
              <a:t>0.8437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400800" y="412394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Kaggle score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437083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Final leaderboard  ·  #65 / 713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4818888"/>
            <a:ext cx="164592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93776" y="47823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Classical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1444752" y="4818888"/>
            <a:ext cx="164592" cy="16459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1664208" y="47823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Deep learning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2615184" y="4818888"/>
            <a:ext cx="164592" cy="1645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2834640" y="47823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DistilBERT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785616" y="4818888"/>
            <a:ext cx="164592" cy="1645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005072" y="47823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RoBERTa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956048" y="4818888"/>
            <a:ext cx="164592" cy="16459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175504" y="47823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Ensemble</a:t>
            </a:r>
            <a:endParaRPr lang="en-US" sz="950" dirty="0"/>
          </a:p>
        </p:txBody>
      </p:sp>
      <p:pic>
        <p:nvPicPr>
          <p:cNvPr id="32" name="Video 31">
            <a:hlinkClick r:id="" action="ppaction://media"/>
            <a:extLst>
              <a:ext uri="{FF2B5EF4-FFF2-40B4-BE49-F238E27FC236}">
                <a16:creationId xmlns:a16="http://schemas.microsoft.com/office/drawing/2014/main" id="{222C0465-EFFB-57CA-5517-FAB097ECAA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6"/>
          <a:srcRect l="21875" r="21875"/>
          <a:stretch>
            <a:fillRect/>
          </a:stretch>
        </p:blipFill>
        <p:spPr>
          <a:xfrm>
            <a:off x="7938239" y="45720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001"/>
    </mc:Choice>
    <mc:Fallback xmlns="">
      <p:transition spd="slow" advTm="3800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Challenges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What was hard and what we learned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8595360" cy="111556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6276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3258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LLM code reliability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68352" y="1664208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Experiment crashed on the MultiHeadAttention-in-Sequential error we explicitly warned about in the system prompt.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532120" y="1344168"/>
            <a:ext cx="22860" cy="9144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669280" y="132588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LESSON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0" y="160020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Gotcha lists reduce failures, they don't eliminate them. Retry-with-full-rewrite was the real fix.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" y="2478024"/>
            <a:ext cx="8595360" cy="1115568"/>
          </a:xfrm>
          <a:prstGeom prst="rect">
            <a:avLst/>
          </a:prstGeom>
          <a:solidFill>
            <a:srgbClr val="FEF9C3"/>
          </a:solidFill>
          <a:ln w="12700">
            <a:solidFill>
              <a:srgbClr val="FEF9C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11480" y="2752344"/>
            <a:ext cx="566928" cy="5669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2871216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143000" y="2569464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Epoch defaults misled conclusions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1068352" y="2907792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5-epoch default caused Keras undertraining. Val loss was still falling at epoch 5. We almost concluded deep learning was categorically inferior.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532120" y="2587752"/>
            <a:ext cx="22860" cy="9144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669280" y="25694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LESSON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5669280" y="28437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Learning curves from our EpochPrinter revealed this. Increased to 10 epochs, </a:t>
            </a:r>
            <a:r>
              <a:rPr lang="en-US" sz="1050" dirty="0" err="1">
                <a:solidFill>
                  <a:srgbClr val="1E293B"/>
                </a:solidFill>
              </a:rPr>
              <a:t>Keras</a:t>
            </a:r>
            <a:r>
              <a:rPr lang="en-US" sz="1050" dirty="0">
                <a:solidFill>
                  <a:srgbClr val="1E293B"/>
                </a:solidFill>
              </a:rPr>
              <a:t> F1 jumped.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274320" y="3721608"/>
            <a:ext cx="8595360" cy="11155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11480" y="3995928"/>
            <a:ext cx="566928" cy="56692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14800"/>
            <a:ext cx="329184" cy="32918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43000" y="3813048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Repetitive experiments without memory design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1068352" y="4151376"/>
            <a:ext cx="42519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Without the failed/low-scoring separation, the LLM kept proposing minor tweaks to dead-end architectures.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5532120" y="3831336"/>
            <a:ext cx="22860" cy="9144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5669280" y="381304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4748B"/>
                </a:solidFill>
              </a:rPr>
              <a:t>LESSON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5669280" y="408736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</a:rPr>
              <a:t>Two-list memory: FAILED (never retry) vs LOW-SCORING (don't tweak), eliminated this.</a:t>
            </a:r>
            <a:endParaRPr lang="en-US" sz="1050" dirty="0"/>
          </a:p>
        </p:txBody>
      </p:sp>
      <p:pic>
        <p:nvPicPr>
          <p:cNvPr id="40" name="Video 39">
            <a:hlinkClick r:id="" action="ppaction://media"/>
            <a:extLst>
              <a:ext uri="{FF2B5EF4-FFF2-40B4-BE49-F238E27FC236}">
                <a16:creationId xmlns:a16="http://schemas.microsoft.com/office/drawing/2014/main" id="{73A0A405-8108-BBF8-13B1-45AE6B06909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8"/>
          <a:srcRect l="21875" r="21875"/>
          <a:stretch>
            <a:fillRect/>
          </a:stretch>
        </p:blipFill>
        <p:spPr>
          <a:xfrm>
            <a:off x="7946551" y="117864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061"/>
    </mc:Choice>
    <mc:Fallback xmlns="">
      <p:transition spd="slow" advTm="2906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0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Pretrained Models — The Ceiling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4124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DistilBERT · RoBERTa · all run locally, no cloud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234440"/>
            <a:ext cx="2788920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84048" y="12344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DistilBERT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94560" y="123444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FFFFF"/>
                </a:solidFill>
              </a:rPr>
              <a:t>~0.810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4320" y="1764792"/>
            <a:ext cx="2788920" cy="256032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29768" y="1956816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" y="186537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66M params (−40% vs BERT)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" y="2386584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" y="229514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WordPiece tokenizer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9768" y="2816352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" y="2724912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2 epochs · lr=1e-5 · batch 32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" y="3246120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1792" y="3154680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~45 min on CPU (M4 Air)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" y="3675888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58444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Raw tweet text (no cleaning)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74320" y="4325112"/>
            <a:ext cx="278892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74320" y="43251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</a:rPr>
              <a:t>Upper bound confirmed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82112" y="1234440"/>
            <a:ext cx="2788920" cy="5303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12344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RoBERTa-base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02352" y="123444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FFFFF"/>
                </a:solidFill>
              </a:rPr>
              <a:t>~0.819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3182112" y="1764792"/>
            <a:ext cx="2788920" cy="256032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337560" y="1956816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529584" y="186537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~125M params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2386584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529584" y="229514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Byte-level BPE tokenizer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2816352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529584" y="2724912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3 epochs · EarlyStopping · AdamW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37560" y="3246120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3529584" y="3154680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Apple Silicon GPU (MPS backend)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337560" y="3675888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529584" y="358444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Raw tweet text (no cleaning)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182112" y="4325112"/>
            <a:ext cx="278892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182112" y="43251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563EB"/>
                </a:solidFill>
              </a:rPr>
              <a:t>Best single model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089904" y="1234440"/>
            <a:ext cx="2788920" cy="53035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99632" y="1234440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Final Ensemble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010144" y="1234440"/>
            <a:ext cx="777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FFFFFF"/>
                </a:solidFill>
              </a:rPr>
              <a:t>0.8437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6089904" y="1764792"/>
            <a:ext cx="2788920" cy="2560320"/>
          </a:xfrm>
          <a:prstGeom prst="rect">
            <a:avLst/>
          </a:prstGeom>
          <a:solidFill>
            <a:srgbClr val="DBEAFE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245352" y="1956816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37376" y="1865376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CountVec+LogReg (F1 0.7786)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45352" y="2386584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2295144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Keras Transformer (F1 0.7830)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45352" y="2816352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37376" y="2724912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RoBERTa × 2 runs avg 50/50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45352" y="3246120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437376" y="3154680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5-fold CV on cheap models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245352" y="3675888"/>
            <a:ext cx="118872" cy="1188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37376" y="3584448"/>
            <a:ext cx="2350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</a:rPr>
              <a:t>Weight+threshold grid search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089904" y="4325112"/>
            <a:ext cx="2788920" cy="411480"/>
          </a:xfrm>
          <a:prstGeom prst="rect">
            <a:avLst/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089904" y="4325112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A580C"/>
                </a:solidFill>
              </a:rPr>
              <a:t>Best overall result</a:t>
            </a:r>
            <a:endParaRPr lang="en-US" sz="1200" dirty="0"/>
          </a:p>
        </p:txBody>
      </p:sp>
      <p:pic>
        <p:nvPicPr>
          <p:cNvPr id="56" name="Video 55">
            <a:hlinkClick r:id="" action="ppaction://media"/>
            <a:extLst>
              <a:ext uri="{FF2B5EF4-FFF2-40B4-BE49-F238E27FC236}">
                <a16:creationId xmlns:a16="http://schemas.microsoft.com/office/drawing/2014/main" id="{634EDD18-F315-A892-54B9-CF3B615F7BE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7941892" y="166997"/>
            <a:ext cx="1080000" cy="10800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184"/>
    </mc:Choice>
    <mc:Fallback xmlns="">
      <p:transition spd="slow" advTm="271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875973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4748B"/>
                </a:solidFill>
              </a:rPr>
              <a:t>"Building a system that builds systems is mostly prompt engineering, memory design, and error recovery. The ML is almost the easy part."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1641" y="1400769"/>
            <a:ext cx="566928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01641" y="1400769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4873" y="1437345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A machine that builds machines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4873" y="1784817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One command. 30 experiments. F1 0.792. Discovered best classical architecture autonomously. Zero human steps in the loop.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01641" y="2571201"/>
            <a:ext cx="566928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01641" y="257120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4873" y="2607777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Prompt engineering is the product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14873" y="2955249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system prompt, memory design, and error recovery accounted for more impact than any architecture choice.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01641" y="3741633"/>
            <a:ext cx="566928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1641" y="374163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4873" y="3778209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Defaults shape conclusions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14873" y="4125681"/>
            <a:ext cx="50749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5-epoch Keras runs looked weak as they were undertrained. Learning curves told the real story. Always validate your defaults.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8200" y="11430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F1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8200" y="1481328"/>
            <a:ext cx="25603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308200" y="1481328"/>
            <a:ext cx="199705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44776" y="149961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DeBERTa v3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137000" y="1499616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</a:rPr>
              <a:t>0.856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8200" y="2139696"/>
            <a:ext cx="25603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308200" y="2139696"/>
            <a:ext cx="1408176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344776" y="215798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DistilBERT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37000" y="2157984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</a:rPr>
              <a:t>0.810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8200" y="2798064"/>
            <a:ext cx="25603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308200" y="2798064"/>
            <a:ext cx="184343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344776" y="281635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Ensemble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37000" y="281635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</a:rPr>
              <a:t>0.844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8200" y="3456432"/>
            <a:ext cx="25603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08200" y="3456432"/>
            <a:ext cx="1062533" cy="347472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344776" y="347472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Agent best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137000" y="347472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</a:rPr>
              <a:t>0.792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308200" y="4114800"/>
            <a:ext cx="256032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308200" y="4114800"/>
            <a:ext cx="640080" cy="347472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344776" y="41330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Baseline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137000" y="4133088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</a:rPr>
              <a:t>0.750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74320" y="4754880"/>
            <a:ext cx="859536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</a:rPr>
              <a:t>Francisca Nunes · Tiago Ferreira · Lourenço Sarmento · José Lopes</a:t>
            </a:r>
            <a:endParaRPr lang="en-US" sz="950" dirty="0"/>
          </a:p>
        </p:txBody>
      </p:sp>
      <p:pic>
        <p:nvPicPr>
          <p:cNvPr id="63" name="Video 62">
            <a:hlinkClick r:id="" action="ppaction://media"/>
            <a:extLst>
              <a:ext uri="{FF2B5EF4-FFF2-40B4-BE49-F238E27FC236}">
                <a16:creationId xmlns:a16="http://schemas.microsoft.com/office/drawing/2014/main" id="{2EC383AD-BA95-3385-FF2B-BA8861EA661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rcRect l="21875" r="21875"/>
          <a:stretch>
            <a:fillRect/>
          </a:stretch>
        </p:blipFill>
        <p:spPr>
          <a:xfrm>
            <a:off x="8173576" y="26929"/>
            <a:ext cx="823463" cy="823463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650"/>
    </mc:Choice>
    <mc:Fallback xmlns="">
      <p:transition spd="slow" advTm="3465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3"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7.5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767</Words>
  <Application>Microsoft Office PowerPoint</Application>
  <PresentationFormat>On-screen Show (16:9)</PresentationFormat>
  <Paragraphs>178</Paragraphs>
  <Slides>9</Slides>
  <Notes>9</Notes>
  <HiddenSlides>0</HiddenSlides>
  <MMClips>10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ML Research Agent</dc:title>
  <dc:subject>PptxGenJS Presentation</dc:subject>
  <dc:creator>PptxGenJS</dc:creator>
  <cp:lastModifiedBy>Lourenco Sarmento</cp:lastModifiedBy>
  <cp:revision>12</cp:revision>
  <dcterms:created xsi:type="dcterms:W3CDTF">2026-05-20T15:59:58Z</dcterms:created>
  <dcterms:modified xsi:type="dcterms:W3CDTF">2026-05-20T21:34:14Z</dcterms:modified>
</cp:coreProperties>
</file>