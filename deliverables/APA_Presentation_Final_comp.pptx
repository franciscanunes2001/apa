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13209A-72D1-4C90-96FB-449D4B786B7A}" v="114" dt="2026-05-20T20:17:37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1849"/>
  </p:normalViewPr>
  <p:slideViewPr>
    <p:cSldViewPr snapToGrid="0" snapToObjects="1">
      <p:cViewPr varScale="1">
        <p:scale>
          <a:sx n="115" d="100"/>
          <a:sy n="115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F1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50-F94C-AB40-EAC9127E38E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250-F94C-AB40-EAC9127E38E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250-F94C-AB40-EAC9127E38E9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50-F94C-AB40-EAC9127E38E9}"/>
              </c:ext>
            </c:extLst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250-F94C-AB40-EAC9127E38E9}"/>
              </c:ext>
            </c:extLst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250-F94C-AB40-EAC9127E38E9}"/>
              </c:ext>
            </c:extLst>
          </c:dPt>
          <c:dPt>
            <c:idx val="6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250-F94C-AB40-EAC9127E38E9}"/>
              </c:ext>
            </c:extLst>
          </c:dPt>
          <c:dPt>
            <c:idx val="7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250-F94C-AB40-EAC9127E38E9}"/>
              </c:ext>
            </c:extLst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250-F94C-AB40-EAC9127E38E9}"/>
              </c:ext>
            </c:extLst>
          </c:dPt>
          <c:dPt>
            <c:idx val="9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250-F94C-AB40-EAC9127E38E9}"/>
              </c:ext>
            </c:extLst>
          </c:dPt>
          <c:cat>
            <c:strRef>
              <c:f>Sheet1!$A$2:$A$11</c:f>
              <c:strCache>
                <c:ptCount val="10"/>
                <c:pt idx="0">
                  <c:v>TF-IDF LR</c:v>
                </c:pt>
                <c:pt idx="1">
                  <c:v>NB</c:v>
                </c:pt>
                <c:pt idx="2">
                  <c:v>MLP</c:v>
                </c:pt>
                <c:pt idx="3">
                  <c:v>CNN</c:v>
                </c:pt>
                <c:pt idx="4">
                  <c:v>BiLSTM</c:v>
                </c:pt>
                <c:pt idx="5">
                  <c:v>CNN+GRU</c:v>
                </c:pt>
                <c:pt idx="6">
                  <c:v>Transformer</c:v>
                </c:pt>
                <c:pt idx="7">
                  <c:v>DistilBERT</c:v>
                </c:pt>
                <c:pt idx="8">
                  <c:v>RoBERTa</c:v>
                </c:pt>
                <c:pt idx="9">
                  <c:v>Ensemble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0.77439999999999998</c:v>
                </c:pt>
                <c:pt idx="1">
                  <c:v>0.76739999999999997</c:v>
                </c:pt>
                <c:pt idx="2">
                  <c:v>0.74980000000000002</c:v>
                </c:pt>
                <c:pt idx="3">
                  <c:v>0.78259999999999996</c:v>
                </c:pt>
                <c:pt idx="4">
                  <c:v>0.7712</c:v>
                </c:pt>
                <c:pt idx="5">
                  <c:v>0.7742</c:v>
                </c:pt>
                <c:pt idx="6">
                  <c:v>0.76500000000000001</c:v>
                </c:pt>
                <c:pt idx="7">
                  <c:v>0.81</c:v>
                </c:pt>
                <c:pt idx="8">
                  <c:v>0.81899999999999995</c:v>
                </c:pt>
                <c:pt idx="9">
                  <c:v>0.83209999999999995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250-F94C-AB40-EAC9127E38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87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[~25 sec]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Hi, I’m Lourenço, and this is our Advanced Predictive Analytics project: an autonomous Machine Learning research agent for the Kaggle Disaster Tweets competition.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task is binary NLP classification: deciding whether a tweet describes a real disaster or not. Our best Kaggle public F1 score was 0.84370, placing us sixty-fifth out of seven hundred and thirteen teams. But the main goal was to build a system that could run machine learning experiments by itself.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[~50 sec]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of the project is this autonomous loop.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curriculum selector chooses the next architecture family. Then a local LLM running through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Ollama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generates a complete Python training script. The script is executed in a subprocess sandbox, not through eval or exec.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training, the parser extracts the validation F1 and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learning curves. Everything is stored in 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experiments.json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prompts, code, errors, scores, learning curves, and the LLM’s own analysis.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code crashes, the agent asks the LLM to repair it, up to three times, with a full rewrite on the final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783C-5DF7-DB63-83EA-B28FCADDB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6A393-4F0F-27F2-81E4-DAB4D94BD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D914E-5E3C-53EE-1821-EC38C2473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 agent running.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important point is that this is not a notebook where we manually choose each model. The agent receives the task, chooses a model family, generates code, runs it, logs the result, and uses that memory in the next iteration.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LLM is not just suggesting ideas. It is driving the experiment loop.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691BD-4379-D6D9-1989-10AF419EF9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82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[~45 sec]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engineering was one of the most important parts of the system.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SYSTEM_PROMPT defines the task, metric, allowed libraries, known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sklearn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issues, output format, and data hygiene rules.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PROPOSE_PROMPT gives the model memory: current best result, tried architectures, failed models, low-scoring models, hyperparameter signatures, and variation axes.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key design choice was separating failed models from low-scoring ones. Failed models should not be retried exactly. Low-scoring models can be revisited, but only with a meaningful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[~35 sec]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curriculum gives structure to the search.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 starts with fast classical models: TF-IDF linear models, probabilistic baselines, and dense MLPs. Then it moves to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CNNs, recurrent models, CNN-GRU hybrids, and small self-attention models.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after this broad exploration does it exploit the best classical family, the best deep-learning family, and then run a final refinement.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kept the search realistic under our runtime limits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[~45 sec]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 30 autonomous experiments, the best agent-generated model reached validation F1 of 0.792 with a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Embedding plus CNN-GRU hybrid.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key finding was that complexity did not automatically win. Classical TF-IDF models stayed competitive because tweets are short, noisy, and often keyword-heavy.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final manual ensemble combined classical models, a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Transformer, and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RoBERTa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reaching validation F1 of 0.8321 and a Kaggle public score of 0.84370.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[~35 sec]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challenges shaped the final design.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LLM-generated code is not always reliable. Prompt rules helped, but the repair loop was essential.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defaults can mislead conclusions. Early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runs looked weak, but the learning curves showed validation loss was still falling, meaning the models were undertrained.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memory design mattered. Separating failed, low-scoring, and successful experiments made the search more disciplined.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[~35 sec]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pretrained models helped us understand the agent’s current ceiling.</a:t>
            </a: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DistilBERT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RoBERTa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performed better not just because they are Transformers, but because they already contain language knowledge from massive pretraining.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from-scratch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Keras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Transformer did not have that advantage. This was the clearest course lesson: on small datasets, pretrained representations can matter more than adding architectural complexity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[~25 sec]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takeaway is that autonomous ML is not just asking an LLM to generate code.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 system is the loop around it: prompts, memory, sandboxed execution, parsing, logging, repair, and iteration.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built a working agent that completed autonomous runs, explored a full NLP curriculum, learned from experiment logs, recovered from failures, and produced a Kaggle submission.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future version should add a slower GPU-enabled track, so the agent can fine-tune pretrained encoders and build ensembles autonomously.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ideo" Target="../media/media3.mp4"/><Relationship Id="rId7" Type="http://schemas.openxmlformats.org/officeDocument/2006/relationships/notesSlide" Target="../notesSlides/notesSlide3.xml"/><Relationship Id="rId2" Type="http://schemas.microsoft.com/office/2007/relationships/media" Target="../media/media3.mp4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video" Target="../media/media4.mp4"/><Relationship Id="rId4" Type="http://schemas.microsoft.com/office/2007/relationships/media" Target="../media/media4.mp4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13.png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-822960"/>
            <a:ext cx="2743200" cy="2743200"/>
          </a:xfrm>
          <a:prstGeom prst="ellipse">
            <a:avLst/>
          </a:prstGeom>
          <a:solidFill>
            <a:srgbClr val="2563EB"/>
          </a:solidFill>
          <a:ln w="762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238491"/>
            <a:ext cx="6858000" cy="1367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ML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Agent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11480" y="2697480"/>
            <a:ext cx="5943600" cy="3657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2834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BFE"/>
                </a:solidFill>
              </a:rPr>
              <a:t>NLP with Disaster Tweets  ·  Track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</a:rPr>
              <a:t>Advanced Predictive Analytics 2025/2026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3520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</a:rPr>
              <a:t>May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4160520"/>
            <a:ext cx="20574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F1 0.8437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" y="45902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Kaggle best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49561" y="4160520"/>
            <a:ext cx="20574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49561" y="42062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#65 / 713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49561" y="45902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Leaderboard</a:t>
            </a:r>
            <a:endParaRPr lang="en-US" sz="1000" dirty="0"/>
          </a:p>
        </p:txBody>
      </p:sp>
      <p:pic>
        <p:nvPicPr>
          <p:cNvPr id="82" name="Video 81">
            <a:hlinkClick r:id="" action="ppaction://media"/>
            <a:extLst>
              <a:ext uri="{FF2B5EF4-FFF2-40B4-BE49-F238E27FC236}">
                <a16:creationId xmlns:a16="http://schemas.microsoft.com/office/drawing/2014/main" id="{61D6C574-0BBF-C8C7-0851-8A6681B055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7793836" y="194252"/>
            <a:ext cx="1080000" cy="10800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507"/>
    </mc:Choice>
    <mc:Fallback xmlns="">
      <p:transition spd="slow" advTm="32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One command. Zero human intervention. Fully autonomous.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298448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14447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9659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Curriculum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618488" y="1325880"/>
            <a:ext cx="137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755648" y="1325880"/>
            <a:ext cx="129844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6272" y="144475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55648" y="19659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Proposes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054096" y="1325880"/>
            <a:ext cx="137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3191256" y="1325880"/>
            <a:ext cx="129844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14447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91256" y="19659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489704" y="1325880"/>
            <a:ext cx="137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4626864" y="1325880"/>
            <a:ext cx="1298448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144475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26864" y="19659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Sandboxed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Executor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925312" y="1325880"/>
            <a:ext cx="137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6062472" y="1325880"/>
            <a:ext cx="129844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3096" y="144475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62472" y="19659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F1 Parser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Logger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360920" y="1325880"/>
            <a:ext cx="137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7498080" y="1325880"/>
            <a:ext cx="1298448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8704" y="144475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98080" y="19659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Logger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320040" y="3017520"/>
            <a:ext cx="2743200" cy="1783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45720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Fully Offline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349300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Ollama at localhost:11434/v1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qwen2.5-coder:14b · Temp 0.3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8,192 max tokens — no truncation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3246120" y="3017520"/>
            <a:ext cx="2743200" cy="1783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338328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Repair Loop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383280" y="349300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On crash: LLM fixes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Up to 3 retries per experiment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Final attempt = full rewrite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172200" y="3017520"/>
            <a:ext cx="2743200" cy="1783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630936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Persistent Memory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309360" y="349300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experiments.json stores everything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Code · F1 · errors · LLM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Fed back as context each iteration</a:t>
            </a:r>
            <a:endParaRPr lang="en-US" sz="1100" dirty="0"/>
          </a:p>
        </p:txBody>
      </p:sp>
      <p:pic>
        <p:nvPicPr>
          <p:cNvPr id="67" name="Video 66">
            <a:hlinkClick r:id="" action="ppaction://media"/>
            <a:extLst>
              <a:ext uri="{FF2B5EF4-FFF2-40B4-BE49-F238E27FC236}">
                <a16:creationId xmlns:a16="http://schemas.microsoft.com/office/drawing/2014/main" id="{29D12C9D-A463-7109-807D-5D004C3962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11"/>
          <a:srcRect l="21875" r="21875"/>
          <a:stretch>
            <a:fillRect/>
          </a:stretch>
        </p:blipFill>
        <p:spPr>
          <a:xfrm>
            <a:off x="7835904" y="108720"/>
            <a:ext cx="1080000" cy="10800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687"/>
    </mc:Choice>
    <mc:Fallback xmlns="">
      <p:transition spd="slow" advTm="366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CA09-F786-7513-52B8-6545CC25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7784E6-1D3D-1298-1C6A-B50991E68833}"/>
              </a:ext>
            </a:extLst>
          </p:cNvPr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</a:t>
            </a:r>
            <a:endParaRPr lang="en-US" sz="3000" dirty="0"/>
          </a:p>
        </p:txBody>
      </p:sp>
      <p:pic>
        <p:nvPicPr>
          <p:cNvPr id="36" name="Video.mov">
            <a:hlinkClick r:id="" action="ppaction://media"/>
            <a:extLst>
              <a:ext uri="{FF2B5EF4-FFF2-40B4-BE49-F238E27FC236}">
                <a16:creationId xmlns:a16="http://schemas.microsoft.com/office/drawing/2014/main" id="{E404F280-F16A-0A27-96AB-98DAF382AE4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11480" y="936508"/>
            <a:ext cx="8321040" cy="3597116"/>
          </a:xfrm>
          <a:prstGeom prst="rect">
            <a:avLst/>
          </a:prstGeom>
        </p:spPr>
      </p:pic>
      <p:pic>
        <p:nvPicPr>
          <p:cNvPr id="37" name="Video 36">
            <a:hlinkClick r:id="" action="ppaction://media"/>
            <a:extLst>
              <a:ext uri="{FF2B5EF4-FFF2-40B4-BE49-F238E27FC236}">
                <a16:creationId xmlns:a16="http://schemas.microsoft.com/office/drawing/2014/main" id="{629B8822-0FDE-198B-570B-262E4D93745D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9"/>
          <a:srcRect l="21875" r="21875"/>
          <a:stretch>
            <a:fillRect/>
          </a:stretch>
        </p:blipFill>
        <p:spPr>
          <a:xfrm>
            <a:off x="7946559" y="69876"/>
            <a:ext cx="1080000" cy="10800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437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6"/>
    </mc:Choice>
    <mc:Fallback xmlns="">
      <p:transition spd="slow" advTm="200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429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191" objId="36"/>
        <p14:stopEvt time="20006" objId="36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The most important engineering artifact in the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27889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SYSTEM_PROMPT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00784"/>
            <a:ext cx="2788920" cy="26517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88366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Task spec + metric (F1)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28600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212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Allowed vs forbidden libs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68833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6151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Known Keras/sklearn gotchas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0906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Complete Keras template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34930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419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Strict output format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89534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822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 hygiene requirements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82112" y="1261872"/>
            <a:ext cx="27889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82112" y="12618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PROPOSE_PROMPT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82112" y="1700784"/>
            <a:ext cx="2788920" cy="26517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46704" y="188366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47872" y="1810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Stratified experiment memory</a:t>
            </a:r>
          </a:p>
        </p:txBody>
      </p:sp>
      <p:sp>
        <p:nvSpPr>
          <p:cNvPr id="24" name="Shape 22"/>
          <p:cNvSpPr/>
          <p:nvPr/>
        </p:nvSpPr>
        <p:spPr>
          <a:xfrm>
            <a:off x="3346704" y="228600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47872" y="2212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FAILED archs → never retry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46704" y="268833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47872" y="26151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LOW-SCORING → don't tweak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46704" y="30906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47872" y="3017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Curriculum-assigned family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46704" y="34930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47872" y="3419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≤2 hyperparameter changes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46704" y="389534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47872" y="3822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Concrete good/bad examples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9904" y="1261872"/>
            <a:ext cx="27889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9904" y="12618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FIX_PROMPT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9904" y="1700784"/>
            <a:ext cx="2788920" cy="26517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54496" y="188366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55664" y="1810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Error message + traceback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54496" y="228600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55664" y="2212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Full broken script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54496" y="268833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55664" y="26151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Instruction: fix only, no prose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54496" y="30906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55664" y="3017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Final attempt: full rewrite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54496" y="34930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55664" y="3419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Restate Keras template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54496" y="389534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55664" y="3822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Model-agnostic (swap via env)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Key insight: separating FAILED (never retry) from LOW-SCORING (don't tweak) prevented the LLM from wasting iterations on dead ends</a:t>
            </a:r>
            <a:endParaRPr lang="en-US" sz="1100" dirty="0"/>
          </a:p>
        </p:txBody>
      </p:sp>
      <p:pic>
        <p:nvPicPr>
          <p:cNvPr id="108" name="Video 107">
            <a:hlinkClick r:id="" action="ppaction://media"/>
            <a:extLst>
              <a:ext uri="{FF2B5EF4-FFF2-40B4-BE49-F238E27FC236}">
                <a16:creationId xmlns:a16="http://schemas.microsoft.com/office/drawing/2014/main" id="{79953A6F-D163-A586-C058-F8C7EDE231D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7917696" y="186356"/>
            <a:ext cx="1080000" cy="10800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17"/>
    </mc:Choice>
    <mc:Fallback xmlns="">
      <p:transition spd="slow" advTm="331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10-Step Curriculum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Explore broadly first, exploit the winners. Classical runs test the same hypothesis at 30× throughput.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530352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" y="1261872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26187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TF-IDF Linear Baseline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75104"/>
            <a:ext cx="530352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975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" y="1975104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9751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TF-IDF Probabilistic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530352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6883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" y="2688336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268833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TF-IDF Dense MLP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01568"/>
            <a:ext cx="5303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401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" y="3401568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340156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Keras Embedding + CNN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5303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" y="4114800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2688" y="41148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Keras Embedding + GRU/BiLSTM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261872"/>
            <a:ext cx="5303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93792" y="1261872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21808" y="126187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Keras CNN + GRU Hybrid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975104"/>
            <a:ext cx="5303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1975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93792" y="1975104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21808" y="19751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Keras Transformer (MHA)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2688336"/>
            <a:ext cx="530352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26883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93792" y="2688336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21808" y="268833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Exploit: Best Classical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3401568"/>
            <a:ext cx="530352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3401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93792" y="3401568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21808" y="340156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Exploit: Best Deep Learning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63440" y="4114800"/>
            <a:ext cx="530352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93792" y="4114800"/>
            <a:ext cx="3858768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21808" y="41148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Final Refinement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4754880"/>
            <a:ext cx="20116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4718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Classical exploration (3 sec)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46120" y="4754880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520440" y="4718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Deep learning (90 sec)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0" y="4754880"/>
            <a:ext cx="201168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92240" y="4718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Exploitation phase</a:t>
            </a:r>
            <a:endParaRPr lang="en-US" sz="1050" dirty="0"/>
          </a:p>
        </p:txBody>
      </p:sp>
      <p:pic>
        <p:nvPicPr>
          <p:cNvPr id="59" name="Video 58">
            <a:hlinkClick r:id="" action="ppaction://media"/>
            <a:extLst>
              <a:ext uri="{FF2B5EF4-FFF2-40B4-BE49-F238E27FC236}">
                <a16:creationId xmlns:a16="http://schemas.microsoft.com/office/drawing/2014/main" id="{D7E7FAF5-20D4-39D5-0740-7EEBDAF8E0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7899408" y="131580"/>
            <a:ext cx="1080000" cy="10800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609"/>
    </mc:Choice>
    <mc:Fallback xmlns="">
      <p:transition spd="slow" advTm="326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— What the Agent Tried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30 experiments across 10 curriculum families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43000"/>
          <a:ext cx="58521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14300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09360" y="1143000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0" y="1234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580C"/>
                </a:solidFill>
              </a:rPr>
              <a:t>0.792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0" y="17099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Agent best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19568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64748B"/>
                </a:solidFill>
              </a:rPr>
              <a:t>Keras</a:t>
            </a:r>
            <a:r>
              <a:rPr lang="en-US" sz="950" dirty="0">
                <a:solidFill>
                  <a:srgbClr val="64748B"/>
                </a:solidFill>
              </a:rPr>
              <a:t> Embedding + CNN + GRU hybrid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09360" y="2350008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09360" y="2350008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44144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</a:rPr>
              <a:t>0.8321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00800" y="2916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Ensemble val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31638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CountVec+LogReg + Transformer + RoBERTa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309360" y="3557016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09360" y="3557016"/>
            <a:ext cx="54864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0" y="36484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</a:rPr>
              <a:t>0.8437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400800" y="41239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Kaggle score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43708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Final leaderboard  ·  #65 / 713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4818888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3776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Classical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444752" y="4818888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664208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Deep learning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615184" y="4818888"/>
            <a:ext cx="1645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83464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DistilBERT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785616" y="4818888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005072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RoBERTa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956048" y="4818888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175504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Ensemble</a:t>
            </a:r>
            <a:endParaRPr lang="en-US" sz="950" dirty="0"/>
          </a:p>
        </p:txBody>
      </p:sp>
      <p:pic>
        <p:nvPicPr>
          <p:cNvPr id="32" name="Video 31">
            <a:hlinkClick r:id="" action="ppaction://media"/>
            <a:extLst>
              <a:ext uri="{FF2B5EF4-FFF2-40B4-BE49-F238E27FC236}">
                <a16:creationId xmlns:a16="http://schemas.microsoft.com/office/drawing/2014/main" id="{222C0465-EFFB-57CA-5517-FAB097ECAA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7938239" y="45720"/>
            <a:ext cx="1080000" cy="10800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01"/>
    </mc:Choice>
    <mc:Fallback xmlns="">
      <p:transition spd="slow" advTm="380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What was hard and what we learned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11155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566928" cy="5669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6276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25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LLM code reliability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68352" y="166420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Experiment crashed on the MultiHeadAttention-in-Sequential error we explicitly warned about in the system prompt.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532120" y="1344168"/>
            <a:ext cx="22860" cy="9144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0" y="1325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LESSON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0" y="16002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Gotcha lists reduce failures, they don't eliminate them. Retry-with-full-rewrite was the real fix.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2478024"/>
            <a:ext cx="8595360" cy="1115568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11480" y="2752344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287121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25694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Epoch defaults misled conclusions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68352" y="290779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5-epoch default caused Keras undertraining. Val loss was still falling at epoch 5. We almost concluded deep learning was categorically inferior.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532120" y="2587752"/>
            <a:ext cx="22860" cy="9144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66928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LESSON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669280" y="28437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Learning curves from our EpochPrinter revealed this. Increased to 10 epochs, </a:t>
            </a:r>
            <a:r>
              <a:rPr lang="en-US" sz="1050" dirty="0" err="1">
                <a:solidFill>
                  <a:srgbClr val="1E293B"/>
                </a:solidFill>
              </a:rPr>
              <a:t>Keras</a:t>
            </a:r>
            <a:r>
              <a:rPr lang="en-US" sz="1050" dirty="0">
                <a:solidFill>
                  <a:srgbClr val="1E293B"/>
                </a:solidFill>
              </a:rPr>
              <a:t> F1 jumped.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74320" y="3721608"/>
            <a:ext cx="859536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11480" y="3995928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11480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43000" y="38130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Repetitive experiments without memory design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068352" y="4151376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Without the failed/low-scoring separation, the LLM kept proposing minor tweaks to dead-end architectures.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532120" y="3831336"/>
            <a:ext cx="22860" cy="9144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669280" y="3813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LESSON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669280" y="408736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Two-list memory: FAILED (never retry) vs LOW-SCORING (don't tweak), eliminated this.</a:t>
            </a:r>
            <a:endParaRPr lang="en-US" sz="1050" dirty="0"/>
          </a:p>
        </p:txBody>
      </p:sp>
      <p:pic>
        <p:nvPicPr>
          <p:cNvPr id="40" name="Video 39">
            <a:hlinkClick r:id="" action="ppaction://media"/>
            <a:extLst>
              <a:ext uri="{FF2B5EF4-FFF2-40B4-BE49-F238E27FC236}">
                <a16:creationId xmlns:a16="http://schemas.microsoft.com/office/drawing/2014/main" id="{73A0A405-8108-BBF8-13B1-45AE6B06909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8"/>
          <a:srcRect l="21875" r="21875"/>
          <a:stretch>
            <a:fillRect/>
          </a:stretch>
        </p:blipFill>
        <p:spPr>
          <a:xfrm>
            <a:off x="7946551" y="117864"/>
            <a:ext cx="1080000" cy="10800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61"/>
    </mc:Choice>
    <mc:Fallback xmlns="">
      <p:transition spd="slow" advTm="29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Pretrained Models — The Ceiling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DistilBERT · RoBERTa · all run locally, no cloud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8892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2344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DistilBERT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23444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</a:rPr>
              <a:t>~0.810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2788920" cy="25603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95681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86537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66M params (−40% vs BERT)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38658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295144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WordPiece tokenizer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281635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724912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2 epochs · lr=1e-5 · batch 32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324612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15468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~45 min on CPU (M4 Air)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367588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58444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Raw tweet text (no cleaning)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325112"/>
            <a:ext cx="278892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3251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Upper bound confirmed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82112" y="1234440"/>
            <a:ext cx="278892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12344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RoBERTa-base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02352" y="123444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</a:rPr>
              <a:t>~0.819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182112" y="1764792"/>
            <a:ext cx="2788920" cy="25603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37560" y="195681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9584" y="186537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~125M params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238658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9584" y="2295144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Byte-level BPE tokenizer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281635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29584" y="2724912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3 epochs · EarlyStopping · AdamW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324612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29584" y="315468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Apple Silicon GPU (MPS backend)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367588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29584" y="358444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Raw tweet text (no cleaning)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82112" y="4325112"/>
            <a:ext cx="278892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82112" y="43251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Best single model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9904" y="1234440"/>
            <a:ext cx="2788920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99632" y="12344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 Ensemble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10144" y="123444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</a:rPr>
              <a:t>0.8437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089904" y="1764792"/>
            <a:ext cx="2788920" cy="25603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45352" y="195681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37376" y="186537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CountVec+LogReg (F1 0.7786)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45352" y="238658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2295144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Keras Transformer (F1 0.7830)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45352" y="281635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37376" y="2724912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RoBERTa × 2 runs avg 50/50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45352" y="324612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37376" y="315468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5-fold CV on cheap models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45352" y="367588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37376" y="358444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Weight+threshold grid search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89904" y="4325112"/>
            <a:ext cx="278892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89904" y="43251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</a:rPr>
              <a:t>Best overall result</a:t>
            </a:r>
            <a:endParaRPr lang="en-US" sz="1200" dirty="0"/>
          </a:p>
        </p:txBody>
      </p:sp>
      <p:pic>
        <p:nvPicPr>
          <p:cNvPr id="56" name="Video 55">
            <a:hlinkClick r:id="" action="ppaction://media"/>
            <a:extLst>
              <a:ext uri="{FF2B5EF4-FFF2-40B4-BE49-F238E27FC236}">
                <a16:creationId xmlns:a16="http://schemas.microsoft.com/office/drawing/2014/main" id="{634EDD18-F315-A892-54B9-CF3B615F7B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7941892" y="166997"/>
            <a:ext cx="1080000" cy="10800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184"/>
    </mc:Choice>
    <mc:Fallback xmlns="">
      <p:transition spd="slow" advTm="271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75973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"Building a system that builds systems is mostly prompt engineering, memory design, and error recovery. The ML is almost the easy part."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1641" y="1400769"/>
            <a:ext cx="56692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1641" y="140076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4873" y="1437345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 machine that builds machines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4873" y="1784817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One command. 30 experiments. F1 0.792. Discovered best classical architecture autonomously. Zero human steps in the loop.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1641" y="2571201"/>
            <a:ext cx="56692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1641" y="2571201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4873" y="2607777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Prompt engineering is the product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4873" y="2955249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system prompt, memory design, and error recovery accounted for more impact than any architecture choice.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1641" y="3741633"/>
            <a:ext cx="56692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1641" y="374163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4873" y="3778209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Defaults shape conclusions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4873" y="4125681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5-epoch Keras runs looked weak as they were undertrained. Learning curves told the real story. Always validate your defaults.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8200" y="1143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F1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8200" y="1481328"/>
            <a:ext cx="2560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8200" y="1481328"/>
            <a:ext cx="199705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44776" y="1499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DeBERTa v3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7000" y="14996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93B"/>
                </a:solidFill>
              </a:rPr>
              <a:t>0.856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8200" y="2139696"/>
            <a:ext cx="2560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08200" y="2139696"/>
            <a:ext cx="1408176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44776" y="2157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DistilBERT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7000" y="21579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93B"/>
                </a:solidFill>
              </a:rPr>
              <a:t>0.810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8200" y="2798064"/>
            <a:ext cx="2560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08200" y="2798064"/>
            <a:ext cx="184343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44776" y="28163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Ensemble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7000" y="28163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93B"/>
                </a:solidFill>
              </a:rPr>
              <a:t>0.844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8200" y="3456432"/>
            <a:ext cx="2560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8200" y="3456432"/>
            <a:ext cx="1062533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44776" y="3474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best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7000" y="34747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93B"/>
                </a:solidFill>
              </a:rPr>
              <a:t>0.792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8200" y="4114800"/>
            <a:ext cx="25603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08200" y="4114800"/>
            <a:ext cx="64008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44776" y="41330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7000" y="41330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E293B"/>
                </a:solidFill>
              </a:rPr>
              <a:t>0.750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754880"/>
            <a:ext cx="85953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Francisca Nunes · Tiago Ferreira · Lourenço Sarmento · José Lopes</a:t>
            </a:r>
            <a:endParaRPr lang="en-US" sz="950" dirty="0"/>
          </a:p>
        </p:txBody>
      </p:sp>
      <p:pic>
        <p:nvPicPr>
          <p:cNvPr id="63" name="Video 62">
            <a:hlinkClick r:id="" action="ppaction://media"/>
            <a:extLst>
              <a:ext uri="{FF2B5EF4-FFF2-40B4-BE49-F238E27FC236}">
                <a16:creationId xmlns:a16="http://schemas.microsoft.com/office/drawing/2014/main" id="{2EC383AD-BA95-3385-FF2B-BA8861EA66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8173576" y="26929"/>
            <a:ext cx="823463" cy="823463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50"/>
    </mc:Choice>
    <mc:Fallback xmlns="">
      <p:transition spd="slow" advTm="346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1566</Words>
  <Application>Microsoft Office PowerPoint</Application>
  <PresentationFormat>On-screen Show (16:9)</PresentationFormat>
  <Paragraphs>218</Paragraphs>
  <Slides>9</Slides>
  <Notes>9</Notes>
  <HiddenSlides>0</HiddenSlides>
  <MMClips>10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ML Research Agent</dc:title>
  <dc:subject>PptxGenJS Presentation</dc:subject>
  <dc:creator>PptxGenJS</dc:creator>
  <cp:lastModifiedBy>Lourenco Sarmento</cp:lastModifiedBy>
  <cp:revision>12</cp:revision>
  <dcterms:created xsi:type="dcterms:W3CDTF">2026-05-20T15:59:58Z</dcterms:created>
  <dcterms:modified xsi:type="dcterms:W3CDTF">2026-05-20T20:18:35Z</dcterms:modified>
</cp:coreProperties>
</file>